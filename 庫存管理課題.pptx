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DB3F5-59F6-4290-8CB6-CA6C2BFF3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00DD2E-E46D-4409-A77C-F0081377D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5597E-1887-41B6-B3FE-979160F7E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8341AD-D9A4-4291-941E-F1601291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F3EBA9-B740-400D-92FF-D9E8DC1E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98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9FEE8F-D803-4418-AE9C-693F8B8B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1CD39A-792B-4255-BA91-4D9FE591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CA423C-34C4-4CD0-9F49-99679160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BD2A8D-354F-4799-AF3D-2D926E73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24CA82-0F66-4387-B068-918D80C6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53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1CCABF-DA67-434F-891F-3FBC756A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035631-4A1D-45E4-9825-8B1DCB57B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3CA209-DC2F-470D-A5FE-217CB7D6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ACC6BE-9AB5-4F8D-A960-DEC31B6A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361170-FDC3-49A9-8729-0BD3F07A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7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55D1F-42BD-4F63-B81E-C4083093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DE3305-8437-48A0-AC5D-8BB141D76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3B3DB4-3067-41A4-8E1E-A267DE5DC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BCC908-A6DE-446D-801C-400786F8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96F3A8-BD08-44FE-ADD9-7B6B0EB3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F1AC25-C3B3-45E0-87F6-5A28A0F4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75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E60F3A-ED7F-469D-A573-05F7A67B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1B4AAD-CB29-4626-B98B-3920A53A5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3B2B6F-B6E1-42AB-B027-1C278E38A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D8C377-C51A-44D6-84C6-13F3293E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4011B22-F67E-40AE-9CBE-E15A512E0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BA763B-D028-4C9A-B8EA-4758ADF30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90F84C4-DE73-491E-A6E3-53CE23BA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EB2960-B4AF-4598-AFA8-C368B03F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9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4CBF9-142A-4573-9B93-5CEF28AA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6573CBC-4084-4283-8BF7-FFA3153A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6A12FB-D57E-426A-B703-6E8A67D7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BF4166-71E0-4DEA-B986-16D8C579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8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0809B6-2E90-4953-80CF-8B769670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4EAB365-01CD-4C3A-BC20-4923774D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7C692A-89FE-469C-9B5D-B97966F4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026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834FA-FCA1-4F0D-BFC4-283CE3FF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9B9E46-9585-49E9-87FD-9F1082033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5FC582-CED0-4ADE-ADAC-736AB98BC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899792-2BC0-4174-BFAD-4C299589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2FAF62-2228-41A4-BE95-85A6A80C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1D0B70-B83D-4692-8518-4130BB13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43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8F5B3E-DA98-4D1B-9F11-18398012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F7849AE-C1AB-4AD9-B11E-790E4765A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464DF1-8BDD-422F-9AFD-8F0048A9F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9E3F57-9EA6-4C23-A03E-F9290468D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9AC2E4-B6DD-46E3-9EB1-9B1467C1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A0B2BF-FA73-4A95-BCD3-390BA6D4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74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07E35E-D813-4BF9-960C-EC631038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D78BF5-3B35-44C8-8D1B-5B012ADB9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6D40CB-C846-490B-A64D-DF65A90C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5B6E0E-37F9-41E0-AB0F-EE50DC7D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5589A7-E7AF-4550-9F8C-CFFBF284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50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81F5889-8F99-4E10-B0F7-3C83BCDC9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ED7402-39F9-4D24-A170-FF3AD958C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3201FD-3923-427B-808E-74E181BF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E04B9E-B303-4929-8885-4B8DB45FC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A6FC7D-EED0-4D67-938D-B657AFEB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80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1F9C3E5-65F0-4F50-9E6D-7941C0C2F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02FD8F-93C4-40CB-90D7-A90A9CED3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FE392B-B39E-4FC1-BBB2-06BD37CDD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EA62B-1596-4E65-B7EB-9451487E902B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E696D7-FDB1-47D2-9FF2-A2B4E9F25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D1D2B4-928B-4C02-BA72-4F106BE65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0A3E9-DFC6-46B4-8D77-3EDEA5AA8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80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zh.wikipedia.org/zh-tw/MVV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bdiagram.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9CB1A-DDB3-4209-9E4D-52E08DB0A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A70722-FA2E-4E3E-A758-68981F93BF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352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89F96-F40C-4C5D-9503-A6D16150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MVVM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520652-1669-462D-A7C4-77C7D156B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複雜的軟體程式、</a:t>
            </a:r>
            <a:r>
              <a:rPr lang="en-US" altLang="zh-TW" dirty="0"/>
              <a:t>App</a:t>
            </a:r>
            <a:r>
              <a:rPr lang="zh-TW" altLang="en-US" dirty="0"/>
              <a:t>、強調畫面</a:t>
            </a:r>
            <a:r>
              <a:rPr lang="en-US" altLang="zh-TW" dirty="0"/>
              <a:t>UI UX</a:t>
            </a:r>
            <a:r>
              <a:rPr lang="zh-TW" altLang="en-US" dirty="0"/>
              <a:t>優先的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（</a:t>
            </a:r>
            <a:r>
              <a:rPr lang="en-US" altLang="zh-TW" dirty="0"/>
              <a:t>Model–View–</a:t>
            </a:r>
            <a:r>
              <a:rPr lang="en-US" altLang="zh-TW" dirty="0" err="1"/>
              <a:t>ViewModel</a:t>
            </a:r>
            <a:r>
              <a:rPr lang="zh-TW" altLang="en-US" dirty="0"/>
              <a:t>）是一種軟體架構設計模式。它的核心目標是將圖形化使用者介面（</a:t>
            </a:r>
            <a:r>
              <a:rPr lang="en-US" altLang="zh-TW" dirty="0"/>
              <a:t>UI</a:t>
            </a:r>
            <a:r>
              <a:rPr lang="zh-TW" altLang="en-US" dirty="0"/>
              <a:t>）與業務邏輯 </a:t>
            </a:r>
            <a:r>
              <a:rPr lang="en-US" altLang="zh-TW" dirty="0"/>
              <a:t>/ </a:t>
            </a:r>
            <a:r>
              <a:rPr lang="zh-TW" altLang="en-US" dirty="0"/>
              <a:t>資料模型徹底分離。 </a:t>
            </a:r>
            <a:r>
              <a:rPr lang="en-US" altLang="zh-TW" dirty="0"/>
              <a:t>[</a:t>
            </a:r>
            <a:r>
              <a:rPr lang="en-US" altLang="zh-TW" dirty="0">
                <a:hlinkClick r:id="rId2"/>
              </a:rPr>
              <a:t>1</a:t>
            </a:r>
            <a:r>
              <a:rPr lang="en-US" altLang="zh-TW" dirty="0"/>
              <a:t>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448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1F7E23-1B38-4B8F-BD70-0980C2B8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MVC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73E713-B79E-4C98-A2AB-E58CCC69C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用於控制優先的</a:t>
            </a:r>
            <a:r>
              <a:rPr lang="en-US" altLang="zh-TW" dirty="0"/>
              <a:t>IoT</a:t>
            </a:r>
            <a:r>
              <a:rPr lang="zh-TW" altLang="en-US" dirty="0"/>
              <a:t>專案</a:t>
            </a:r>
            <a:r>
              <a:rPr lang="en-US" altLang="zh-TW" dirty="0"/>
              <a:t>(</a:t>
            </a:r>
            <a:r>
              <a:rPr lang="zh-TW" altLang="en-US" dirty="0"/>
              <a:t>輕量化</a:t>
            </a:r>
            <a:r>
              <a:rPr lang="en-US" altLang="zh-TW" dirty="0"/>
              <a:t>)</a:t>
            </a:r>
          </a:p>
          <a:p>
            <a:r>
              <a:rPr lang="en-US" altLang="zh-TW" b="1" u="none" strike="noStrike" dirty="0">
                <a:effectLst/>
                <a:latin typeface="Arial" panose="020B0604020202020204" pitchFamily="34" charset="0"/>
              </a:rPr>
              <a:t>MVC</a:t>
            </a:r>
            <a:r>
              <a:rPr lang="zh-TW" altLang="en-US" dirty="0"/>
              <a:t>（</a:t>
            </a:r>
            <a:r>
              <a:rPr lang="en-US" altLang="zh-TW" dirty="0"/>
              <a:t>Model–View–Controller</a:t>
            </a:r>
            <a:r>
              <a:rPr lang="zh-TW" altLang="en-US" dirty="0"/>
              <a:t>，模型－視圖－控制器）是一種常用的軟體架構模式</a:t>
            </a:r>
          </a:p>
        </p:txBody>
      </p:sp>
    </p:spTree>
    <p:extLst>
      <p:ext uri="{BB962C8B-B14F-4D97-AF65-F5344CB8AC3E}">
        <p14:creationId xmlns:p14="http://schemas.microsoft.com/office/powerpoint/2010/main" val="107646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1F2BB670-6E13-4D2A-9FD5-1B185E7B3E24}"/>
              </a:ext>
            </a:extLst>
          </p:cNvPr>
          <p:cNvSpPr/>
          <p:nvPr/>
        </p:nvSpPr>
        <p:spPr>
          <a:xfrm>
            <a:off x="1143128" y="1515533"/>
            <a:ext cx="2319866" cy="3640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  <a:endParaRPr lang="en-US" altLang="zh-TW" dirty="0"/>
          </a:p>
          <a:p>
            <a:pPr algn="ctr"/>
            <a:r>
              <a:rPr lang="en-US" altLang="zh-TW" dirty="0"/>
              <a:t>(html</a:t>
            </a:r>
            <a:r>
              <a:rPr lang="zh-TW" altLang="en-US" dirty="0"/>
              <a:t>、</a:t>
            </a:r>
            <a:r>
              <a:rPr lang="en-US" altLang="zh-TW" dirty="0" err="1"/>
              <a:t>css</a:t>
            </a:r>
            <a:r>
              <a:rPr lang="zh-TW" altLang="en-US" dirty="0"/>
              <a:t>、</a:t>
            </a:r>
            <a:r>
              <a:rPr lang="en-US" altLang="zh-TW" dirty="0" err="1"/>
              <a:t>javascript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2943802-B0D1-4A95-B8C3-949A3B4B3C93}"/>
              </a:ext>
            </a:extLst>
          </p:cNvPr>
          <p:cNvSpPr/>
          <p:nvPr/>
        </p:nvSpPr>
        <p:spPr>
          <a:xfrm>
            <a:off x="5098771" y="1515533"/>
            <a:ext cx="2319866" cy="3640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  <a:endParaRPr lang="en-US" altLang="zh-TW" dirty="0"/>
          </a:p>
          <a:p>
            <a:pPr algn="ctr"/>
            <a:r>
              <a:rPr lang="en-US" altLang="zh-TW" dirty="0"/>
              <a:t>Nodejs</a:t>
            </a:r>
            <a:r>
              <a:rPr lang="zh-TW" altLang="en-US" dirty="0"/>
              <a:t>、</a:t>
            </a:r>
            <a:r>
              <a:rPr lang="en-US" altLang="zh-TW" dirty="0"/>
              <a:t>Python</a:t>
            </a:r>
            <a:r>
              <a:rPr lang="zh-TW" altLang="en-US" dirty="0"/>
              <a:t> </a:t>
            </a:r>
            <a:r>
              <a:rPr lang="en-US" altLang="zh-TW" dirty="0"/>
              <a:t>Flask</a:t>
            </a:r>
            <a:r>
              <a:rPr lang="zh-TW" altLang="en-US" dirty="0"/>
              <a:t>、</a:t>
            </a:r>
            <a:r>
              <a:rPr lang="en-US" altLang="zh-TW" dirty="0"/>
              <a:t>GO…</a:t>
            </a:r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0FE6BE3-EB28-44A3-BF7E-961CC21CACE6}"/>
              </a:ext>
            </a:extLst>
          </p:cNvPr>
          <p:cNvSpPr/>
          <p:nvPr/>
        </p:nvSpPr>
        <p:spPr>
          <a:xfrm>
            <a:off x="9740705" y="1353634"/>
            <a:ext cx="2319866" cy="3640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資料庫</a:t>
            </a:r>
            <a:endParaRPr lang="en-US" altLang="zh-TW" dirty="0"/>
          </a:p>
          <a:p>
            <a:pPr algn="ctr"/>
            <a:r>
              <a:rPr lang="en-US" altLang="zh-TW" dirty="0"/>
              <a:t>MySQL</a:t>
            </a:r>
          </a:p>
          <a:p>
            <a:pPr algn="ctr"/>
            <a:r>
              <a:rPr lang="en-US" altLang="zh-TW" dirty="0" err="1"/>
              <a:t>pgSQL</a:t>
            </a:r>
            <a:endParaRPr lang="en-US" altLang="zh-TW" dirty="0"/>
          </a:p>
          <a:p>
            <a:pPr algn="ctr"/>
            <a:r>
              <a:rPr lang="en-US" altLang="zh-TW" dirty="0" err="1"/>
              <a:t>msSQL</a:t>
            </a:r>
            <a:endParaRPr lang="en-US" altLang="zh-TW" dirty="0"/>
          </a:p>
          <a:p>
            <a:pPr algn="ctr"/>
            <a:r>
              <a:rPr lang="en-US" altLang="zh-TW" dirty="0" err="1"/>
              <a:t>SQlite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045DA84-487B-4AAD-A797-74FB177CEBB5}"/>
              </a:ext>
            </a:extLst>
          </p:cNvPr>
          <p:cNvCxnSpPr>
            <a:cxnSpLocks/>
          </p:cNvCxnSpPr>
          <p:nvPr/>
        </p:nvCxnSpPr>
        <p:spPr>
          <a:xfrm flipH="1">
            <a:off x="3242735" y="3674533"/>
            <a:ext cx="18287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4055963-41CA-454B-AA27-E5EE5CE3BDFA}"/>
              </a:ext>
            </a:extLst>
          </p:cNvPr>
          <p:cNvCxnSpPr>
            <a:cxnSpLocks/>
          </p:cNvCxnSpPr>
          <p:nvPr/>
        </p:nvCxnSpPr>
        <p:spPr>
          <a:xfrm flipH="1">
            <a:off x="7759144" y="3581400"/>
            <a:ext cx="18287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8798DD7-8502-4620-8912-E2FFF707D5E9}"/>
              </a:ext>
            </a:extLst>
          </p:cNvPr>
          <p:cNvSpPr txBox="1"/>
          <p:nvPr/>
        </p:nvSpPr>
        <p:spPr>
          <a:xfrm>
            <a:off x="3751988" y="305966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API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08230C6-261C-4C9D-AF58-698B4F858066}"/>
              </a:ext>
            </a:extLst>
          </p:cNvPr>
          <p:cNvSpPr txBox="1"/>
          <p:nvPr/>
        </p:nvSpPr>
        <p:spPr>
          <a:xfrm>
            <a:off x="8151909" y="3042735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SQL</a:t>
            </a:r>
            <a:endParaRPr lang="zh-TW" altLang="en-US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FE4C27E-D446-44F9-80CA-54690A7FA735}"/>
              </a:ext>
            </a:extLst>
          </p:cNvPr>
          <p:cNvSpPr/>
          <p:nvPr/>
        </p:nvSpPr>
        <p:spPr>
          <a:xfrm>
            <a:off x="948267" y="1116569"/>
            <a:ext cx="8187266" cy="4115832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AA23923-365F-4D53-95C8-A6FE7353E34A}"/>
              </a:ext>
            </a:extLst>
          </p:cNvPr>
          <p:cNvCxnSpPr/>
          <p:nvPr/>
        </p:nvCxnSpPr>
        <p:spPr>
          <a:xfrm>
            <a:off x="7480299" y="2108200"/>
            <a:ext cx="2180167" cy="110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FA0C087-5576-4AA7-8EBA-310600422560}"/>
              </a:ext>
            </a:extLst>
          </p:cNvPr>
          <p:cNvSpPr txBox="1"/>
          <p:nvPr/>
        </p:nvSpPr>
        <p:spPr>
          <a:xfrm>
            <a:off x="7991994" y="438836"/>
            <a:ext cx="1407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Harry123180</a:t>
            </a:r>
          </a:p>
          <a:p>
            <a:r>
              <a:rPr lang="en-US" altLang="zh-TW" dirty="0"/>
              <a:t>12345678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D8CBB8C-FE0C-4943-983A-8E4B7A9FD4FA}"/>
              </a:ext>
            </a:extLst>
          </p:cNvPr>
          <p:cNvSpPr txBox="1"/>
          <p:nvPr/>
        </p:nvSpPr>
        <p:spPr>
          <a:xfrm>
            <a:off x="8151909" y="18626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加密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FD72430-B18E-4851-ABAB-79C70E9BCFEC}"/>
              </a:ext>
            </a:extLst>
          </p:cNvPr>
          <p:cNvSpPr txBox="1"/>
          <p:nvPr/>
        </p:nvSpPr>
        <p:spPr>
          <a:xfrm>
            <a:off x="3602008" y="256757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API KEY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0F5D9FB-D1E7-49A5-9B86-383941BB0A02}"/>
              </a:ext>
            </a:extLst>
          </p:cNvPr>
          <p:cNvSpPr txBox="1"/>
          <p:nvPr/>
        </p:nvSpPr>
        <p:spPr>
          <a:xfrm>
            <a:off x="3696269" y="3889400"/>
            <a:ext cx="715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token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317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1F2BB670-6E13-4D2A-9FD5-1B185E7B3E24}"/>
              </a:ext>
            </a:extLst>
          </p:cNvPr>
          <p:cNvSpPr/>
          <p:nvPr/>
        </p:nvSpPr>
        <p:spPr>
          <a:xfrm>
            <a:off x="701989" y="1346200"/>
            <a:ext cx="2319866" cy="3640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  <a:endParaRPr lang="en-US" altLang="zh-TW" dirty="0"/>
          </a:p>
          <a:p>
            <a:pPr algn="ctr"/>
            <a:r>
              <a:rPr lang="en-US" altLang="zh-TW" dirty="0"/>
              <a:t>(html</a:t>
            </a:r>
            <a:r>
              <a:rPr lang="zh-TW" altLang="en-US" dirty="0"/>
              <a:t>、</a:t>
            </a:r>
            <a:r>
              <a:rPr lang="en-US" altLang="zh-TW" dirty="0" err="1"/>
              <a:t>css</a:t>
            </a:r>
            <a:r>
              <a:rPr lang="zh-TW" altLang="en-US" dirty="0"/>
              <a:t>、</a:t>
            </a:r>
            <a:r>
              <a:rPr lang="en-US" altLang="zh-TW" dirty="0" err="1"/>
              <a:t>javascript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0FE6BE3-EB28-44A3-BF7E-961CC21CACE6}"/>
              </a:ext>
            </a:extLst>
          </p:cNvPr>
          <p:cNvSpPr/>
          <p:nvPr/>
        </p:nvSpPr>
        <p:spPr>
          <a:xfrm>
            <a:off x="9660466" y="1346199"/>
            <a:ext cx="2319866" cy="3640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資料庫</a:t>
            </a:r>
            <a:endParaRPr lang="en-US" altLang="zh-TW" dirty="0"/>
          </a:p>
          <a:p>
            <a:pPr algn="ctr"/>
            <a:r>
              <a:rPr lang="en-US" altLang="zh-TW" dirty="0"/>
              <a:t>MySQL</a:t>
            </a:r>
          </a:p>
          <a:p>
            <a:pPr algn="ctr"/>
            <a:r>
              <a:rPr lang="en-US" altLang="zh-TW" dirty="0" err="1"/>
              <a:t>pgSQL</a:t>
            </a:r>
            <a:endParaRPr lang="en-US" altLang="zh-TW" dirty="0"/>
          </a:p>
          <a:p>
            <a:pPr algn="ctr"/>
            <a:r>
              <a:rPr lang="en-US" altLang="zh-TW" dirty="0" err="1"/>
              <a:t>msSQL</a:t>
            </a:r>
            <a:endParaRPr lang="en-US" altLang="zh-TW" dirty="0"/>
          </a:p>
          <a:p>
            <a:pPr algn="ctr"/>
            <a:r>
              <a:rPr lang="en-US" altLang="zh-TW" dirty="0" err="1"/>
              <a:t>SQlite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4055963-41CA-454B-AA27-E5EE5CE3BDFA}"/>
              </a:ext>
            </a:extLst>
          </p:cNvPr>
          <p:cNvCxnSpPr>
            <a:cxnSpLocks/>
          </p:cNvCxnSpPr>
          <p:nvPr/>
        </p:nvCxnSpPr>
        <p:spPr>
          <a:xfrm flipH="1" flipV="1">
            <a:off x="3318933" y="3429000"/>
            <a:ext cx="6269009" cy="152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08230C6-261C-4C9D-AF58-698B4F858066}"/>
              </a:ext>
            </a:extLst>
          </p:cNvPr>
          <p:cNvSpPr txBox="1"/>
          <p:nvPr/>
        </p:nvSpPr>
        <p:spPr>
          <a:xfrm>
            <a:off x="8151909" y="3042735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SQL</a:t>
            </a:r>
            <a:endParaRPr lang="zh-TW" altLang="en-US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FE4C27E-D446-44F9-80CA-54690A7FA735}"/>
              </a:ext>
            </a:extLst>
          </p:cNvPr>
          <p:cNvSpPr/>
          <p:nvPr/>
        </p:nvSpPr>
        <p:spPr>
          <a:xfrm>
            <a:off x="211668" y="965200"/>
            <a:ext cx="8585199" cy="541866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AA23923-365F-4D53-95C8-A6FE7353E34A}"/>
              </a:ext>
            </a:extLst>
          </p:cNvPr>
          <p:cNvCxnSpPr/>
          <p:nvPr/>
        </p:nvCxnSpPr>
        <p:spPr>
          <a:xfrm>
            <a:off x="7480299" y="2108200"/>
            <a:ext cx="2180167" cy="110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FA0C087-5576-4AA7-8EBA-310600422560}"/>
              </a:ext>
            </a:extLst>
          </p:cNvPr>
          <p:cNvSpPr txBox="1"/>
          <p:nvPr/>
        </p:nvSpPr>
        <p:spPr>
          <a:xfrm>
            <a:off x="7991994" y="438836"/>
            <a:ext cx="1407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Harry123180</a:t>
            </a:r>
          </a:p>
          <a:p>
            <a:r>
              <a:rPr lang="en-US" altLang="zh-TW" dirty="0"/>
              <a:t>12345678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D8CBB8C-FE0C-4943-983A-8E4B7A9FD4FA}"/>
              </a:ext>
            </a:extLst>
          </p:cNvPr>
          <p:cNvSpPr txBox="1"/>
          <p:nvPr/>
        </p:nvSpPr>
        <p:spPr>
          <a:xfrm>
            <a:off x="8151909" y="18626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加密</a:t>
            </a:r>
          </a:p>
        </p:txBody>
      </p:sp>
    </p:spTree>
    <p:extLst>
      <p:ext uri="{BB962C8B-B14F-4D97-AF65-F5344CB8AC3E}">
        <p14:creationId xmlns:p14="http://schemas.microsoft.com/office/powerpoint/2010/main" val="364280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3C7E8-7A60-4000-A8E0-2629F5A6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2726C2-831F-4E90-98F2-919A95C788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7820" y="3058194"/>
            <a:ext cx="146841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Create（新增）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：將新資料寫入資料系統或資料庫中（對應 SQL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、HTTP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Read（讀取）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：從系統中檢索或查詢現有資料（對應 SQL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、HTTP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Update（更新）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：修改已存在的資料記錄內容（對應 SQL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、HTTP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或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PATCH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Delete（刪除）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：從系統中移除資料，或將其標記為刪除狀態（對應 SQL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、HTTP 的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）。</a:t>
            </a: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0F1C61A-F68D-4FA8-8021-A592BB5DC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50198"/>
            <a:ext cx="766169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3600" dirty="0">
                <a:latin typeface="Arial" panose="020B0604020202020204" pitchFamily="34" charset="0"/>
              </a:rPr>
              <a:t>一個專案一個</a:t>
            </a:r>
            <a:r>
              <a:rPr lang="en-US" altLang="zh-TW" sz="3600" dirty="0" err="1">
                <a:latin typeface="Arial" panose="020B0604020202020204" pitchFamily="34" charset="0"/>
              </a:rPr>
              <a:t>DataBase</a:t>
            </a:r>
            <a:r>
              <a:rPr lang="en-US" altLang="zh-TW" sz="3600" dirty="0"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3600" dirty="0">
                <a:latin typeface="Arial" panose="020B0604020202020204" pitchFamily="34" charset="0"/>
              </a:rPr>
              <a:t>一個</a:t>
            </a:r>
            <a:r>
              <a:rPr lang="en-US" altLang="zh-TW" sz="3600" dirty="0" err="1">
                <a:latin typeface="Arial" panose="020B0604020202020204" pitchFamily="34" charset="0"/>
              </a:rPr>
              <a:t>DataBase</a:t>
            </a:r>
            <a:r>
              <a:rPr lang="zh-TW" altLang="en-US" sz="3600" dirty="0">
                <a:latin typeface="Arial" panose="020B0604020202020204" pitchFamily="34" charset="0"/>
              </a:rPr>
              <a:t>可以有數個表</a:t>
            </a:r>
            <a:endParaRPr lang="zh-TW" altLang="zh-TW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6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85370-87BD-43DD-BFDA-59113F46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40FE98-1639-4512-82B5-4502BA1A4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PostgreSQL</a:t>
            </a:r>
            <a:r>
              <a:rPr lang="en-US" altLang="zh-TW" dirty="0"/>
              <a:t>(</a:t>
            </a:r>
            <a:r>
              <a:rPr lang="zh-TW" altLang="en-US" dirty="0"/>
              <a:t>大象資料庫</a:t>
            </a:r>
            <a:r>
              <a:rPr lang="en-US" altLang="zh-TW" dirty="0"/>
              <a:t>)(</a:t>
            </a:r>
            <a:r>
              <a:rPr lang="zh-TW" altLang="en-US" dirty="0"/>
              <a:t>六邊形戰士 所有性能都很強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pgAdmin</a:t>
            </a:r>
            <a:r>
              <a:rPr lang="en-US" altLang="zh-TW" dirty="0"/>
              <a:t>(</a:t>
            </a:r>
            <a:r>
              <a:rPr lang="zh-TW" altLang="en-US" dirty="0"/>
              <a:t>是</a:t>
            </a:r>
            <a:r>
              <a:rPr lang="en-US" altLang="zh-TW" dirty="0" err="1"/>
              <a:t>pgSQL</a:t>
            </a:r>
            <a:r>
              <a:rPr lang="zh-TW" altLang="en-US" dirty="0"/>
              <a:t>的介面管理軟體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mySQL</a:t>
            </a:r>
            <a:r>
              <a:rPr lang="en-US" altLang="zh-TW" dirty="0"/>
              <a:t> (</a:t>
            </a:r>
            <a:r>
              <a:rPr lang="zh-TW" altLang="en-US" dirty="0"/>
              <a:t>免費 教學最多</a:t>
            </a:r>
            <a:r>
              <a:rPr lang="en-US" altLang="zh-TW" dirty="0"/>
              <a:t>)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SQLite</a:t>
            </a:r>
            <a:r>
              <a:rPr lang="en-US" altLang="zh-TW" dirty="0"/>
              <a:t> (Python</a:t>
            </a:r>
            <a:r>
              <a:rPr lang="zh-TW" altLang="en-US" dirty="0"/>
              <a:t>內建的輕量資料庫 最簡單 但適合測試使用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MongoDB 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082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73A119-011B-4B18-9B64-C0BE39C9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CC8265-19A0-4C33-9672-0EA4B771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Step1.</a:t>
            </a:r>
            <a:r>
              <a:rPr lang="zh-TW" altLang="en-US" dirty="0"/>
              <a:t>請</a:t>
            </a:r>
            <a:r>
              <a:rPr lang="en-US" altLang="zh-TW" dirty="0"/>
              <a:t>AI</a:t>
            </a:r>
            <a:r>
              <a:rPr lang="zh-TW" altLang="en-US" dirty="0"/>
              <a:t>進去新增一個</a:t>
            </a:r>
            <a:r>
              <a:rPr lang="en-US" altLang="zh-TW" dirty="0"/>
              <a:t>Database</a:t>
            </a:r>
            <a:r>
              <a:rPr lang="zh-TW" altLang="en-US" dirty="0"/>
              <a:t>叫做</a:t>
            </a:r>
            <a:r>
              <a:rPr lang="en-US" altLang="zh-TW" dirty="0" err="1"/>
              <a:t>AILearn</a:t>
            </a:r>
            <a:endParaRPr lang="en-US" altLang="zh-TW" dirty="0"/>
          </a:p>
          <a:p>
            <a:r>
              <a:rPr lang="en-US" altLang="zh-TW" dirty="0"/>
              <a:t>Step2.</a:t>
            </a:r>
            <a:r>
              <a:rPr lang="zh-TW" altLang="en-US" dirty="0"/>
              <a:t>因為</a:t>
            </a:r>
            <a:r>
              <a:rPr lang="en-US" altLang="zh-TW" dirty="0"/>
              <a:t>AI</a:t>
            </a:r>
            <a:r>
              <a:rPr lang="zh-TW" altLang="en-US" dirty="0"/>
              <a:t>沒有我們資料庫的登入密碼，因此我們將密碼打在文本裡面，叫</a:t>
            </a:r>
            <a:r>
              <a:rPr lang="en-US" altLang="zh-TW" dirty="0"/>
              <a:t>AI</a:t>
            </a:r>
            <a:r>
              <a:rPr lang="zh-TW" altLang="en-US" dirty="0"/>
              <a:t>拿著文本去開鎖，而不是直接把密碼給</a:t>
            </a:r>
            <a:r>
              <a:rPr lang="en-US" altLang="zh-TW" dirty="0"/>
              <a:t>AI</a:t>
            </a:r>
          </a:p>
          <a:p>
            <a:r>
              <a:rPr lang="en-US" altLang="zh-TW" dirty="0">
                <a:hlinkClick r:id="rId2"/>
              </a:rPr>
              <a:t>https://dbdiagram.io/</a:t>
            </a:r>
            <a:r>
              <a:rPr lang="zh-TW" altLang="en-US" dirty="0"/>
              <a:t> 一款很像</a:t>
            </a:r>
            <a:r>
              <a:rPr lang="en-US" altLang="zh-TW" dirty="0" err="1"/>
              <a:t>Markdowm</a:t>
            </a:r>
            <a:r>
              <a:rPr lang="zh-TW" altLang="en-US" dirty="0"/>
              <a:t>的圖像資料庫設計</a:t>
            </a:r>
            <a:r>
              <a:rPr lang="en-US" altLang="zh-TW" dirty="0"/>
              <a:t>app(</a:t>
            </a:r>
            <a:r>
              <a:rPr lang="zh-TW" altLang="en-US" dirty="0"/>
              <a:t>網頁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569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DCDD3FF-815D-46A5-86F1-369E55D61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75542"/>
              </p:ext>
            </p:extLst>
          </p:nvPr>
        </p:nvGraphicFramePr>
        <p:xfrm>
          <a:off x="1828800" y="1549398"/>
          <a:ext cx="8746068" cy="436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5356">
                  <a:extLst>
                    <a:ext uri="{9D8B030D-6E8A-4147-A177-3AD203B41FA5}">
                      <a16:colId xmlns:a16="http://schemas.microsoft.com/office/drawing/2014/main" val="2148475116"/>
                    </a:ext>
                  </a:extLst>
                </a:gridCol>
                <a:gridCol w="2915356">
                  <a:extLst>
                    <a:ext uri="{9D8B030D-6E8A-4147-A177-3AD203B41FA5}">
                      <a16:colId xmlns:a16="http://schemas.microsoft.com/office/drawing/2014/main" val="2762171111"/>
                    </a:ext>
                  </a:extLst>
                </a:gridCol>
                <a:gridCol w="2915356">
                  <a:extLst>
                    <a:ext uri="{9D8B030D-6E8A-4147-A177-3AD203B41FA5}">
                      <a16:colId xmlns:a16="http://schemas.microsoft.com/office/drawing/2014/main" val="4031231088"/>
                    </a:ext>
                  </a:extLst>
                </a:gridCol>
              </a:tblGrid>
              <a:tr h="1456267">
                <a:tc>
                  <a:txBody>
                    <a:bodyPr/>
                    <a:lstStyle/>
                    <a:p>
                      <a:r>
                        <a:rPr lang="en-US" altLang="zh-TW" dirty="0"/>
                        <a:t>A1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941450"/>
                  </a:ext>
                </a:extLst>
              </a:tr>
              <a:tr h="1456267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660868"/>
                  </a:ext>
                </a:extLst>
              </a:tr>
              <a:tr h="1456267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207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439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E6AC6-1CFD-48C7-9C00-9209BDD3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人員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6B8878-66DA-4244-8FAF-D220CBAB9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我公司有好多個員工大致上有分成幾個部門</a:t>
            </a:r>
            <a:endParaRPr lang="en-US" altLang="zh-TW" dirty="0"/>
          </a:p>
          <a:p>
            <a:r>
              <a:rPr lang="zh-TW" altLang="en-US" dirty="0"/>
              <a:t>倉管人員</a:t>
            </a:r>
            <a:endParaRPr lang="en-US" altLang="zh-TW" dirty="0"/>
          </a:p>
          <a:p>
            <a:r>
              <a:rPr lang="zh-TW" altLang="en-US" dirty="0"/>
              <a:t>採購人員</a:t>
            </a:r>
            <a:endParaRPr lang="en-US" altLang="zh-TW" dirty="0"/>
          </a:p>
          <a:p>
            <a:r>
              <a:rPr lang="zh-TW" altLang="en-US" dirty="0"/>
              <a:t>銷售人員</a:t>
            </a:r>
            <a:endParaRPr lang="en-US" altLang="zh-TW" dirty="0"/>
          </a:p>
          <a:p>
            <a:r>
              <a:rPr lang="zh-TW" altLang="en-US" dirty="0"/>
              <a:t>會計人員</a:t>
            </a:r>
            <a:endParaRPr lang="en-US" altLang="zh-TW" dirty="0"/>
          </a:p>
          <a:p>
            <a:r>
              <a:rPr lang="zh-TW" altLang="en-US" dirty="0"/>
              <a:t>各自負責不同職能</a:t>
            </a:r>
          </a:p>
        </p:txBody>
      </p:sp>
    </p:spTree>
    <p:extLst>
      <p:ext uri="{BB962C8B-B14F-4D97-AF65-F5344CB8AC3E}">
        <p14:creationId xmlns:p14="http://schemas.microsoft.com/office/powerpoint/2010/main" val="344393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E6AC6-1CFD-48C7-9C00-9209BDD3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商品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6B8878-66DA-4244-8FAF-D220CBAB9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每個商品需要紀錄商品編號 流水號由系統自動生成</a:t>
            </a:r>
            <a:endParaRPr lang="en-US" altLang="zh-TW" dirty="0"/>
          </a:p>
          <a:p>
            <a:r>
              <a:rPr lang="zh-TW" altLang="en-US" dirty="0"/>
              <a:t>每個商品需要紀錄庫存位置、庫存數量、採購供應商、採購日期、批次、採購單價、批次數量</a:t>
            </a:r>
            <a:endParaRPr lang="en-US" altLang="zh-TW" dirty="0"/>
          </a:p>
          <a:p>
            <a:r>
              <a:rPr lang="zh-TW" altLang="en-US" dirty="0"/>
              <a:t>每個商品進出庫都要有人員操作紀錄、提取或入庫數量、日期</a:t>
            </a:r>
            <a:endParaRPr lang="en-US" altLang="zh-TW" dirty="0"/>
          </a:p>
          <a:p>
            <a:r>
              <a:rPr lang="zh-TW" altLang="en-US" dirty="0"/>
              <a:t>每個商品銷貨都要記錄銷貨人員、日期、數量、銷貨金額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932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DFD4C-9B11-409A-9F7A-C812270F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銷售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8461C-1688-4A24-95D6-3B4A92046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銷售功能需要管理查詢某商品是否有貨、快速搭配多項商品、給出折扣</a:t>
            </a:r>
            <a:r>
              <a:rPr lang="en-US" altLang="zh-TW" dirty="0"/>
              <a:t>(</a:t>
            </a:r>
            <a:r>
              <a:rPr lang="zh-TW" altLang="en-US" dirty="0"/>
              <a:t>可以設定</a:t>
            </a:r>
            <a:r>
              <a:rPr lang="en-US" altLang="zh-TW" dirty="0"/>
              <a:t>)</a:t>
            </a:r>
            <a:r>
              <a:rPr lang="zh-TW" altLang="en-US" dirty="0"/>
              <a:t>、自動計算毛利、可以設定產品的建議售價與預計毛利，如果發現其他倉庫有貨，還可以打調貨單</a:t>
            </a:r>
          </a:p>
        </p:txBody>
      </p:sp>
    </p:spTree>
    <p:extLst>
      <p:ext uri="{BB962C8B-B14F-4D97-AF65-F5344CB8AC3E}">
        <p14:creationId xmlns:p14="http://schemas.microsoft.com/office/powerpoint/2010/main" val="3610406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1DC13-B20D-4B28-B133-E4CB6F92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庫存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6F7950-C056-4AD9-A386-7E50CC9E7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庫存管理系統需要可以讓倉管人員快速輸入物品名稱、去定位到該項物品的位置、剩餘庫存，去做入庫或領用、以及可以轉移庫存位置、領用的話可以設定用途</a:t>
            </a:r>
            <a:r>
              <a:rPr lang="en-US" altLang="zh-TW" dirty="0"/>
              <a:t>:</a:t>
            </a:r>
            <a:r>
              <a:rPr lang="zh-TW" altLang="en-US" dirty="0"/>
              <a:t>銷貨 </a:t>
            </a:r>
            <a:r>
              <a:rPr lang="en-US" altLang="zh-TW" dirty="0"/>
              <a:t>or </a:t>
            </a:r>
            <a:r>
              <a:rPr lang="zh-TW" altLang="en-US" dirty="0"/>
              <a:t>客戶寄貨，多倉庫設定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也要可以輸入位置，針對該位置放入某物品</a:t>
            </a:r>
          </a:p>
        </p:txBody>
      </p:sp>
    </p:spTree>
    <p:extLst>
      <p:ext uri="{BB962C8B-B14F-4D97-AF65-F5344CB8AC3E}">
        <p14:creationId xmlns:p14="http://schemas.microsoft.com/office/powerpoint/2010/main" val="3961299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D8FCFF-9FAB-4CC0-898F-C8F75390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採購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15474E-D672-4488-BB52-8DC40AAB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採購管理可以設定每一項商品的</a:t>
            </a:r>
            <a:r>
              <a:rPr lang="en-US" altLang="zh-TW" dirty="0"/>
              <a:t>”</a:t>
            </a:r>
            <a:r>
              <a:rPr lang="zh-TW" altLang="en-US" dirty="0"/>
              <a:t>水位</a:t>
            </a:r>
            <a:r>
              <a:rPr lang="en-US" altLang="zh-TW" dirty="0"/>
              <a:t>“</a:t>
            </a:r>
            <a:r>
              <a:rPr lang="zh-TW" altLang="en-US" dirty="0"/>
              <a:t>可以快速查看所有低於設定水位庫存的商品有哪些</a:t>
            </a:r>
            <a:endParaRPr lang="en-US" altLang="zh-TW" dirty="0"/>
          </a:p>
          <a:p>
            <a:r>
              <a:rPr lang="zh-TW" altLang="en-US" dirty="0"/>
              <a:t>供應商管理</a:t>
            </a:r>
            <a:r>
              <a:rPr lang="en-US" altLang="zh-TW" dirty="0"/>
              <a:t>-</a:t>
            </a:r>
            <a:r>
              <a:rPr lang="zh-TW" altLang="en-US" dirty="0"/>
              <a:t>統編 公司名稱 聯絡人 電話 </a:t>
            </a:r>
            <a:endParaRPr lang="en-US" altLang="zh-TW" dirty="0"/>
          </a:p>
          <a:p>
            <a:r>
              <a:rPr lang="zh-TW" altLang="en-US" dirty="0"/>
              <a:t>每一個商品的供應商、採購批次流水號</a:t>
            </a:r>
            <a:r>
              <a:rPr lang="en-US" altLang="zh-TW" dirty="0"/>
              <a:t>(</a:t>
            </a:r>
            <a:r>
              <a:rPr lang="zh-TW" altLang="en-US" dirty="0"/>
              <a:t>帶入日期</a:t>
            </a:r>
            <a:r>
              <a:rPr lang="en-US" altLang="zh-TW" dirty="0"/>
              <a:t>)</a:t>
            </a:r>
            <a:r>
              <a:rPr lang="zh-TW" altLang="en-US" dirty="0"/>
              <a:t>、總價、單價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681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657</Words>
  <Application>Microsoft Office PowerPoint</Application>
  <PresentationFormat>寬螢幕</PresentationFormat>
  <Paragraphs>76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佈景主題</vt:lpstr>
      <vt:lpstr>PowerPoint 簡報</vt:lpstr>
      <vt:lpstr>MVVM</vt:lpstr>
      <vt:lpstr>MVC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人員</vt:lpstr>
      <vt:lpstr>商品</vt:lpstr>
      <vt:lpstr>銷售</vt:lpstr>
      <vt:lpstr>庫存</vt:lpstr>
      <vt:lpstr>採購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泓舉</dc:creator>
  <cp:lastModifiedBy>泓舉</cp:lastModifiedBy>
  <cp:revision>1</cp:revision>
  <dcterms:created xsi:type="dcterms:W3CDTF">2026-10-21T01:22:44Z</dcterms:created>
  <dcterms:modified xsi:type="dcterms:W3CDTF">2026-10-21T03:35:20Z</dcterms:modified>
</cp:coreProperties>
</file>